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 w="10160">
            <a:solidFill>
              <a:srgbClr val="07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E92A5"/>
                </a:solidFill>
                <a:latin typeface="Aptos"/>
              </a:rPr>
              <a:t>ENTERPRISE HR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E92A5"/>
                </a:solidFill>
                <a:latin typeface="Aptos"/>
              </a:rPr>
              <a:t>01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4F8FC"/>
                </a:solidFill>
                <a:latin typeface="Aptos"/>
              </a:rPr>
              <a:t>WORKFORCE
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42032"/>
            <a:ext cx="5212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5D1DD"/>
                </a:solidFill>
                <a:latin typeface="Aptos"/>
              </a:rPr>
              <a:t>AI-Powered Workforce Intelligence &amp;
Human Capital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19272"/>
            <a:ext cx="5715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E92A5"/>
                </a:solidFill>
                <a:latin typeface="Aptos"/>
              </a:rPr>
              <a:t>Predictive Attrition Risk  ·  O*NET Skill Intelligence  ·  RAG Policy Assistant  ·  Succession Planning</a:t>
            </a:r>
          </a:p>
        </p:txBody>
      </p:sp>
      <p:sp>
        <p:nvSpPr>
          <p:cNvPr id="9" name="Oval 8"/>
          <p:cNvSpPr/>
          <p:nvPr/>
        </p:nvSpPr>
        <p:spPr>
          <a:xfrm>
            <a:off x="7635240" y="1261872"/>
            <a:ext cx="1188720" cy="1188720"/>
          </a:xfrm>
          <a:prstGeom prst="ellipse">
            <a:avLst/>
          </a:prstGeom>
          <a:solidFill>
            <a:srgbClr val="4099FF"/>
          </a:solidFill>
          <a:ln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55448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F8FC"/>
                </a:solidFill>
                <a:latin typeface="Aptos"/>
              </a:rPr>
              <a:t>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658368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804672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30D3C4"/>
                </a:solidFill>
                <a:latin typeface="Aptos"/>
              </a:rPr>
              <a:t>ATTRITION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7333488" y="1161288"/>
            <a:ext cx="886968" cy="694943"/>
          </a:xfrm>
          <a:prstGeom prst="line">
            <a:avLst/>
          </a:prstGeom>
          <a:ln w="15240">
            <a:solidFill>
              <a:srgbClr val="30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09760" y="77724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923544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9769FF"/>
                </a:solidFill>
                <a:latin typeface="Aptos"/>
              </a:rPr>
              <a:t>SKILLS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220456" y="1280160"/>
            <a:ext cx="2130552" cy="576071"/>
          </a:xfrm>
          <a:prstGeom prst="line">
            <a:avLst/>
          </a:prstGeom>
          <a:ln w="15240">
            <a:solidFill>
              <a:srgbClr val="97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38360" y="278892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935224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F4B443"/>
                </a:solidFill>
                <a:latin typeface="Aptos"/>
              </a:rPr>
              <a:t>POLICY RAG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0456" y="1856231"/>
            <a:ext cx="2359152" cy="1435608"/>
          </a:xfrm>
          <a:prstGeom prst="line">
            <a:avLst/>
          </a:prstGeom>
          <a:ln w="15240">
            <a:solidFill>
              <a:srgbClr val="F4B4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46520" y="379476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941064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3FCF8B"/>
                </a:solidFill>
                <a:latin typeface="Aptos"/>
              </a:rPr>
              <a:t>SUCCESSION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287768" y="1856231"/>
            <a:ext cx="932688" cy="2441449"/>
          </a:xfrm>
          <a:prstGeom prst="line">
            <a:avLst/>
          </a:prstGeom>
          <a:ln w="15240">
            <a:solidFill>
              <a:srgbClr val="3FC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" y="4709160"/>
            <a:ext cx="1755648" cy="841248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82896"/>
            <a:ext cx="1609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099FF"/>
                </a:solidFill>
                <a:latin typeface="Aptos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93792"/>
            <a:ext cx="160934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30" b="1">
                <a:solidFill>
                  <a:srgbClr val="7E92A5"/>
                </a:solidFill>
                <a:latin typeface="Aptos"/>
              </a:rPr>
              <a:t>MODEL ACCURACY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32888" y="4709160"/>
            <a:ext cx="1755648" cy="841248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4882896"/>
            <a:ext cx="1609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5B69"/>
                </a:solidFill>
                <a:latin typeface="Aptos"/>
              </a:rPr>
              <a:t>200+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5193792"/>
            <a:ext cx="160934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30" b="1">
                <a:solidFill>
                  <a:srgbClr val="7E92A5"/>
                </a:solidFill>
                <a:latin typeface="Aptos"/>
              </a:rPr>
              <a:t>HIGH-RISK EMPLOYEES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8848" y="4709160"/>
            <a:ext cx="1755648" cy="841248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882896"/>
            <a:ext cx="1609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0D3C4"/>
                </a:solidFill>
                <a:latin typeface="Aptos"/>
              </a:rPr>
              <a:t>1,000+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193792"/>
            <a:ext cx="160934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30" b="1">
                <a:solidFill>
                  <a:srgbClr val="7E92A5"/>
                </a:solidFill>
                <a:latin typeface="Aptos"/>
              </a:rPr>
              <a:t>ROLES &amp; SKILLS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09160"/>
            <a:ext cx="4892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D1DD"/>
                </a:solidFill>
                <a:latin typeface="Aptos"/>
              </a:rPr>
              <a:t>A unified AI layer for prediction, skills, policy intelligence and talent decisions.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565392"/>
            <a:ext cx="4846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1">
                <a:solidFill>
                  <a:srgbClr val="7E92A5"/>
                </a:solidFill>
                <a:latin typeface="Aptos"/>
              </a:rPr>
              <a:t>WORKFORCE INTELLIGENCE  •  PREDICTIVE  •  EXPLAINABLE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 w="10160">
            <a:solidFill>
              <a:srgbClr val="07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E92A5"/>
                </a:solidFill>
                <a:latin typeface="Aptos"/>
              </a:rPr>
              <a:t>ENTERPRISE HR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E92A5"/>
                </a:solidFill>
                <a:latin typeface="Aptos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099FF"/>
                </a:solidFill>
                <a:latin typeface="Aptos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4F8FC"/>
                </a:solidFill>
                <a:latin typeface="Aptos"/>
              </a:rPr>
              <a:t>From HR pain points to measurable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E92A5"/>
                </a:solidFill>
                <a:latin typeface="Aptos"/>
              </a:rPr>
              <a:t>Addressing enterprise HR challenges through machine learning and NLP intelligence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874519"/>
            <a:ext cx="11183112" cy="0"/>
          </a:xfrm>
          <a:prstGeom prst="line">
            <a:avLst/>
          </a:prstGeom>
          <a:ln w="1016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176272"/>
            <a:ext cx="3456432" cy="363931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41448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45B69"/>
                </a:solidFill>
                <a:latin typeface="Aptos"/>
              </a:rPr>
              <a:t>01  PROBLEM STATEMENT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2935224"/>
            <a:ext cx="68580" cy="68580"/>
          </a:xfrm>
          <a:prstGeom prst="ellipse">
            <a:avLst/>
          </a:prstGeom>
          <a:solidFill>
            <a:srgbClr val="F45B69"/>
          </a:solidFill>
          <a:ln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62072"/>
            <a:ext cx="268833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C5D1DD"/>
                </a:solidFill>
                <a:latin typeface="Aptos"/>
              </a:rPr>
              <a:t>High employee attrition rates impact enterprise stability and costs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593591"/>
            <a:ext cx="68580" cy="68580"/>
          </a:xfrm>
          <a:prstGeom prst="ellipse">
            <a:avLst/>
          </a:prstGeom>
          <a:solidFill>
            <a:srgbClr val="F45B69"/>
          </a:solidFill>
          <a:ln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20439"/>
            <a:ext cx="268833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C5D1DD"/>
                </a:solidFill>
                <a:latin typeface="Aptos"/>
              </a:rPr>
              <a:t>Manual skill gap analysis is slow and subjective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251960"/>
            <a:ext cx="68580" cy="68580"/>
          </a:xfrm>
          <a:prstGeom prst="ellipse">
            <a:avLst/>
          </a:prstGeom>
          <a:solidFill>
            <a:srgbClr val="F45B69"/>
          </a:solidFill>
          <a:ln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78808"/>
            <a:ext cx="268833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C5D1DD"/>
                </a:solidFill>
                <a:latin typeface="Aptos"/>
              </a:rPr>
              <a:t>HR policy query handling creates administrative overhead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4910328"/>
            <a:ext cx="68580" cy="68580"/>
          </a:xfrm>
          <a:prstGeom prst="ellipse">
            <a:avLst/>
          </a:prstGeom>
          <a:solidFill>
            <a:srgbClr val="F45B69"/>
          </a:solidFill>
          <a:ln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37176"/>
            <a:ext cx="268833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C5D1DD"/>
                </a:solidFill>
                <a:latin typeface="Aptos"/>
              </a:rPr>
              <a:t>Succession planning lacks data-driven readiness scoring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33087" y="2176272"/>
            <a:ext cx="3675887" cy="363931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9976" y="244144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0D3C4"/>
                </a:solidFill>
                <a:latin typeface="Aptos"/>
              </a:rPr>
              <a:t>02  AI SOLUTION</a:t>
            </a:r>
          </a:p>
        </p:txBody>
      </p:sp>
      <p:sp>
        <p:nvSpPr>
          <p:cNvPr id="22" name="Oval 21"/>
          <p:cNvSpPr/>
          <p:nvPr/>
        </p:nvSpPr>
        <p:spPr>
          <a:xfrm>
            <a:off x="4379976" y="2935224"/>
            <a:ext cx="68580" cy="68580"/>
          </a:xfrm>
          <a:prstGeom prst="ellipse">
            <a:avLst/>
          </a:prstGeom>
          <a:solidFill>
            <a:srgbClr val="30D3C4"/>
          </a:solidFill>
          <a:ln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2862072"/>
            <a:ext cx="285292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5D1DD"/>
                </a:solidFill>
                <a:latin typeface="Aptos"/>
              </a:rPr>
              <a:t>RandomForest ML model predicting attrition risk with 82% accuracy</a:t>
            </a:r>
          </a:p>
        </p:txBody>
      </p:sp>
      <p:sp>
        <p:nvSpPr>
          <p:cNvPr id="24" name="Oval 23"/>
          <p:cNvSpPr/>
          <p:nvPr/>
        </p:nvSpPr>
        <p:spPr>
          <a:xfrm>
            <a:off x="4379976" y="3593591"/>
            <a:ext cx="68580" cy="68580"/>
          </a:xfrm>
          <a:prstGeom prst="ellipse">
            <a:avLst/>
          </a:prstGeom>
          <a:solidFill>
            <a:srgbClr val="30D3C4"/>
          </a:solidFill>
          <a:ln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520439"/>
            <a:ext cx="285292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5D1DD"/>
                </a:solidFill>
                <a:latin typeface="Aptos"/>
              </a:rPr>
              <a:t>O*NET framework integration mapping 1,000+ roles &amp; skills</a:t>
            </a:r>
          </a:p>
        </p:txBody>
      </p:sp>
      <p:sp>
        <p:nvSpPr>
          <p:cNvPr id="26" name="Oval 25"/>
          <p:cNvSpPr/>
          <p:nvPr/>
        </p:nvSpPr>
        <p:spPr>
          <a:xfrm>
            <a:off x="4379976" y="4251960"/>
            <a:ext cx="68580" cy="68580"/>
          </a:xfrm>
          <a:prstGeom prst="ellipse">
            <a:avLst/>
          </a:prstGeom>
          <a:solidFill>
            <a:srgbClr val="30D3C4"/>
          </a:solidFill>
          <a:ln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4178808"/>
            <a:ext cx="285292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5D1DD"/>
                </a:solidFill>
                <a:latin typeface="Aptos"/>
              </a:rPr>
              <a:t>RAG (Retrieval-Augmented Generation) policy Q&amp;A assistant</a:t>
            </a:r>
          </a:p>
        </p:txBody>
      </p:sp>
      <p:sp>
        <p:nvSpPr>
          <p:cNvPr id="28" name="Oval 27"/>
          <p:cNvSpPr/>
          <p:nvPr/>
        </p:nvSpPr>
        <p:spPr>
          <a:xfrm>
            <a:off x="4379976" y="4910328"/>
            <a:ext cx="68580" cy="68580"/>
          </a:xfrm>
          <a:prstGeom prst="ellipse">
            <a:avLst/>
          </a:prstGeom>
          <a:solidFill>
            <a:srgbClr val="30D3C4"/>
          </a:solidFill>
          <a:ln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4837176"/>
            <a:ext cx="285292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5D1DD"/>
                </a:solidFill>
                <a:latin typeface="Aptos"/>
              </a:rPr>
              <a:t>Automated succession pipeline &amp; upskilling plan generator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82712" y="2176272"/>
            <a:ext cx="3703320" cy="363931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4414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FCF8B"/>
                </a:solidFill>
                <a:latin typeface="Aptos"/>
              </a:rPr>
              <a:t>03  KEY BUSINESS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862072"/>
            <a:ext cx="10789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B69"/>
                </a:solidFill>
                <a:latin typeface="Aptos"/>
              </a:rPr>
              <a:t>200+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88036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D1DD"/>
                </a:solidFill>
                <a:latin typeface="Aptos"/>
              </a:rPr>
              <a:t>high-risk employees identified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547872"/>
            <a:ext cx="10789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099FF"/>
                </a:solidFill>
                <a:latin typeface="Aptos"/>
              </a:rPr>
              <a:t>FAST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56616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D1DD"/>
                </a:solidFill>
                <a:latin typeface="Aptos"/>
              </a:rPr>
              <a:t>policy Q&amp;A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233672"/>
            <a:ext cx="10789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FCF8B"/>
                </a:solidFill>
                <a:latin typeface="Aptos"/>
              </a:rPr>
              <a:t>OBJECTIVE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251959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D1DD"/>
                </a:solidFill>
                <a:latin typeface="Aptos"/>
              </a:rPr>
              <a:t>readiness tiers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919472"/>
            <a:ext cx="10789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769FF"/>
                </a:solidFill>
                <a:latin typeface="Aptos"/>
              </a:rPr>
              <a:t>TARGETED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937759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D1DD"/>
                </a:solidFill>
                <a:latin typeface="Aptos"/>
              </a:rPr>
              <a:t>upskilling recommendations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6565392"/>
            <a:ext cx="4846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1">
                <a:solidFill>
                  <a:srgbClr val="7E92A5"/>
                </a:solidFill>
                <a:latin typeface="Aptos"/>
              </a:rPr>
              <a:t>WORKFORCE INTELLIGENCE  •  PREDICTIVE  •  EXPLAINABLE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 w="10160">
            <a:solidFill>
              <a:srgbClr val="07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E92A5"/>
                </a:solidFill>
                <a:latin typeface="Aptos"/>
              </a:rPr>
              <a:t>ENTERPRISE HR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E92A5"/>
                </a:solidFill>
                <a:latin typeface="Aptos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099FF"/>
                </a:solidFill>
                <a:latin typeface="Aptos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4F8FC"/>
                </a:solidFill>
                <a:latin typeface="Aptos"/>
              </a:rPr>
              <a:t>Seven data sources → one intelligence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E92A5"/>
                </a:solidFill>
                <a:latin typeface="Aptos"/>
              </a:rPr>
              <a:t>Unified data platform processing 7 heterogeneous enterprise HR data sources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874519"/>
            <a:ext cx="11183112" cy="0"/>
          </a:xfrm>
          <a:prstGeom prst="line">
            <a:avLst/>
          </a:prstGeom>
          <a:ln w="1016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194560"/>
            <a:ext cx="2542032" cy="603504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04288"/>
            <a:ext cx="2560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4099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28600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F4F8FC"/>
                </a:solidFill>
                <a:latin typeface="Aptos"/>
              </a:rPr>
              <a:t>IBM HR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496312"/>
            <a:ext cx="1920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0">
                <a:solidFill>
                  <a:srgbClr val="7E92A5"/>
                </a:solidFill>
                <a:latin typeface="Aptos"/>
              </a:rPr>
              <a:t>1,470 employees × 35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2194560"/>
            <a:ext cx="2542032" cy="603504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304288"/>
            <a:ext cx="2560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4099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28600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F4F8FC"/>
                </a:solidFill>
                <a:latin typeface="Aptos"/>
              </a:rPr>
              <a:t>HR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496312"/>
            <a:ext cx="1920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0">
                <a:solidFill>
                  <a:srgbClr val="7E92A5"/>
                </a:solidFill>
                <a:latin typeface="Aptos"/>
              </a:rPr>
              <a:t>2,845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5896" y="2194560"/>
            <a:ext cx="2542032" cy="603504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304288"/>
            <a:ext cx="2560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4099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28600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F4F8FC"/>
                </a:solidFill>
                <a:latin typeface="Aptos"/>
              </a:rPr>
              <a:t>O*NET Occupations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496312"/>
            <a:ext cx="1920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0">
                <a:solidFill>
                  <a:srgbClr val="7E92A5"/>
                </a:solidFill>
                <a:latin typeface="Aptos"/>
              </a:rPr>
              <a:t>1,016 standardized roles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2194560"/>
            <a:ext cx="2542032" cy="603504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06256" y="2304288"/>
            <a:ext cx="2560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4099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28600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F4F8FC"/>
                </a:solidFill>
                <a:latin typeface="Aptos"/>
              </a:rPr>
              <a:t>O*NET Essential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496312"/>
            <a:ext cx="1920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0">
                <a:solidFill>
                  <a:srgbClr val="7E92A5"/>
                </a:solidFill>
                <a:latin typeface="Aptos"/>
              </a:rPr>
              <a:t>9,100 importance ratings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944368"/>
            <a:ext cx="2542032" cy="603504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054096"/>
            <a:ext cx="2560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4099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3035808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F4F8FC"/>
                </a:solidFill>
                <a:latin typeface="Aptos"/>
              </a:rPr>
              <a:t>O*NET Software &amp; 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3246120"/>
            <a:ext cx="1920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0">
                <a:solidFill>
                  <a:srgbClr val="7E92A5"/>
                </a:solidFill>
                <a:latin typeface="Aptos"/>
              </a:rPr>
              <a:t>31,821 requirements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64408" y="2944368"/>
            <a:ext cx="2542032" cy="603504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054096"/>
            <a:ext cx="2560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4099FF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3035808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F4F8FC"/>
                </a:solidFill>
                <a:latin typeface="Aptos"/>
              </a:rPr>
              <a:t>Employee KPI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246120"/>
            <a:ext cx="1920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0">
                <a:solidFill>
                  <a:srgbClr val="7E92A5"/>
                </a:solidFill>
                <a:latin typeface="Aptos"/>
              </a:rPr>
              <a:t>5,000 performance logs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25896" y="2944368"/>
            <a:ext cx="2542032" cy="603504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3054096"/>
            <a:ext cx="2560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4099FF"/>
                </a:solidFill>
                <a:latin typeface="Aptos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3035808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F4F8FC"/>
                </a:solidFill>
                <a:latin typeface="Aptos"/>
              </a:rPr>
              <a:t>Performance 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3246120"/>
            <a:ext cx="1920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0">
                <a:solidFill>
                  <a:srgbClr val="7E92A5"/>
                </a:solidFill>
                <a:latin typeface="Aptos"/>
              </a:rPr>
              <a:t>500 risk entries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986784"/>
            <a:ext cx="11183112" cy="786384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 w="1524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187952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4099FF"/>
                </a:solidFill>
                <a:latin typeface="Aptos"/>
              </a:rPr>
              <a:t>UNIFIED HR DATA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4160520"/>
            <a:ext cx="8321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C5D1DD"/>
                </a:solidFill>
                <a:latin typeface="Aptos"/>
              </a:rPr>
              <a:t>pandas normalization  •  SQLite hr_platform.db  •  processed CSVs  •  feature scaling &amp; encoding  •  zero-data leakage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074920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E92A5"/>
                </a:solidFill>
                <a:latin typeface="Aptos"/>
              </a:rPr>
              <a:t>DATA PIPELINE WORKFLOW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39496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5532120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4099FF"/>
                </a:solidFill>
                <a:latin typeface="Aptos"/>
              </a:rPr>
              <a:t>EXTRACT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5733288"/>
            <a:ext cx="1719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40" b="0">
                <a:solidFill>
                  <a:srgbClr val="C5D1DD"/>
                </a:solidFill>
                <a:latin typeface="Aptos"/>
              </a:rPr>
              <a:t>pandas normalization
+ datetime parsing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96312" y="5641848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E92A5"/>
                </a:solidFill>
                <a:latin typeface="Aptos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52344" y="539496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62072" y="5532120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4099FF"/>
                </a:solidFill>
                <a:latin typeface="Aptos"/>
              </a:rPr>
              <a:t>STORE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62072" y="5733288"/>
            <a:ext cx="1719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40" b="0">
                <a:solidFill>
                  <a:srgbClr val="C5D1DD"/>
                </a:solidFill>
                <a:latin typeface="Aptos"/>
              </a:rPr>
              <a:t>SQLite relational
storage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45736" y="5641848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E92A5"/>
                </a:solidFill>
                <a:latin typeface="Aptos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01768" y="539496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11496" y="5532120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4099FF"/>
                </a:solidFill>
                <a:latin typeface="Aptos"/>
              </a:rPr>
              <a:t>PROCESS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11496" y="5733288"/>
            <a:ext cx="1719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40" b="0">
                <a:solidFill>
                  <a:srgbClr val="C5D1DD"/>
                </a:solidFill>
                <a:latin typeface="Aptos"/>
              </a:rPr>
              <a:t>CSV generation
for data/processed/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641848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E92A5"/>
                </a:solidFill>
                <a:latin typeface="Aptos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51192" y="539496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19" y="5532120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4099FF"/>
                </a:solidFill>
                <a:latin typeface="Aptos"/>
              </a:rPr>
              <a:t>SANITIZE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19" y="5733288"/>
            <a:ext cx="1719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40" b="0">
                <a:solidFill>
                  <a:srgbClr val="C5D1DD"/>
                </a:solidFill>
                <a:latin typeface="Aptos"/>
              </a:rPr>
              <a:t>Scaling + encoding
for ML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44584" y="5641848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E92A5"/>
                </a:solidFill>
                <a:latin typeface="Aptos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00616" y="539496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10344" y="5532120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4099FF"/>
                </a:solidFill>
                <a:latin typeface="Aptos"/>
              </a:rPr>
              <a:t>VERIFY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10344" y="5733288"/>
            <a:ext cx="1719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40" b="0">
                <a:solidFill>
                  <a:srgbClr val="C5D1DD"/>
                </a:solidFill>
                <a:latin typeface="Aptos"/>
              </a:rPr>
              <a:t>Clean train-test
separation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02920" y="6565392"/>
            <a:ext cx="4846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1">
                <a:solidFill>
                  <a:srgbClr val="7E92A5"/>
                </a:solidFill>
                <a:latin typeface="Aptos"/>
              </a:rPr>
              <a:t>WORKFORCE INTELLIGENCE  •  PREDICTIVE  •  EXPLAINABLE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 w="10160">
            <a:solidFill>
              <a:srgbClr val="07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E92A5"/>
                </a:solidFill>
                <a:latin typeface="Aptos"/>
              </a:rPr>
              <a:t>ENTERPRISE HR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E92A5"/>
                </a:solidFill>
                <a:latin typeface="Aptos"/>
              </a:rP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099FF"/>
                </a:solidFill>
                <a:latin typeface="Aptos"/>
              </a:rPr>
              <a:t>PREDICTIVE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4F8FC"/>
                </a:solidFill>
                <a:latin typeface="Aptos"/>
              </a:rPr>
              <a:t>Risk prediction with interpretable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E92A5"/>
                </a:solidFill>
                <a:latin typeface="Aptos"/>
              </a:rPr>
              <a:t>Production-grade machine learning models for attrition risk and performance prediction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874519"/>
            <a:ext cx="11183112" cy="0"/>
          </a:xfrm>
          <a:prstGeom prst="line">
            <a:avLst/>
          </a:prstGeom>
          <a:ln w="1016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194560"/>
            <a:ext cx="2880360" cy="3584448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 w="1524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8716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45B69"/>
                </a:solidFill>
                <a:latin typeface="Aptos"/>
              </a:rPr>
              <a:t>ATTRITION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89504"/>
            <a:ext cx="2423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900" b="1">
                <a:solidFill>
                  <a:srgbClr val="F4F8FC"/>
                </a:solidFill>
                <a:latin typeface="Aptos"/>
              </a:rPr>
              <a:t>82.0%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502152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E92A5"/>
                </a:solidFill>
                <a:latin typeface="Aptos"/>
              </a:rPr>
              <a:t>holdout test accuracy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3977639"/>
            <a:ext cx="2148840" cy="0"/>
          </a:xfrm>
          <a:prstGeom prst="line">
            <a:avLst/>
          </a:prstGeom>
          <a:ln w="1270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4224528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8FC"/>
                </a:solidFill>
                <a:latin typeface="Aptos"/>
              </a:rPr>
              <a:t>RandomForest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526280"/>
            <a:ext cx="2331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5D1DD"/>
                </a:solidFill>
                <a:latin typeface="Aptos"/>
              </a:rPr>
              <a:t>200 estimators  ·  depth =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910328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Risk tiers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193792"/>
            <a:ext cx="539496" cy="338328"/>
          </a:xfrm>
          <a:prstGeom prst="roundRect">
            <a:avLst>
              <a:gd name="adj" fmla="val 8000"/>
            </a:avLst>
          </a:prstGeom>
          <a:solidFill>
            <a:srgbClr val="F45B69"/>
          </a:solidFill>
          <a:ln w="6350"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294376"/>
            <a:ext cx="5029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1">
                <a:solidFill>
                  <a:srgbClr val="F4F8FC"/>
                </a:solidFill>
                <a:latin typeface="Aptos"/>
              </a:rPr>
              <a:t>&gt;=60%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62456" y="5193792"/>
            <a:ext cx="539496" cy="338328"/>
          </a:xfrm>
          <a:prstGeom prst="roundRect">
            <a:avLst>
              <a:gd name="adj" fmla="val 8000"/>
            </a:avLst>
          </a:prstGeom>
          <a:solidFill>
            <a:srgbClr val="F4B443"/>
          </a:solidFill>
          <a:ln w="6350">
            <a:solidFill>
              <a:srgbClr val="F4B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0744" y="5294376"/>
            <a:ext cx="5029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1">
                <a:solidFill>
                  <a:srgbClr val="F4F8FC"/>
                </a:solidFill>
                <a:latin typeface="Aptos"/>
              </a:rPr>
              <a:t>40–60%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75104" y="5193792"/>
            <a:ext cx="539496" cy="338328"/>
          </a:xfrm>
          <a:prstGeom prst="roundRect">
            <a:avLst>
              <a:gd name="adj" fmla="val 8000"/>
            </a:avLst>
          </a:prstGeom>
          <a:solidFill>
            <a:srgbClr val="4099FF"/>
          </a:solidFill>
          <a:ln w="635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93392" y="5294376"/>
            <a:ext cx="5029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1">
                <a:solidFill>
                  <a:srgbClr val="F4F8FC"/>
                </a:solidFill>
                <a:latin typeface="Aptos"/>
              </a:rPr>
              <a:t>20–40%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87752" y="5193792"/>
            <a:ext cx="539496" cy="338328"/>
          </a:xfrm>
          <a:prstGeom prst="roundRect">
            <a:avLst>
              <a:gd name="adj" fmla="val 8000"/>
            </a:avLst>
          </a:prstGeom>
          <a:solidFill>
            <a:srgbClr val="3FCF8B"/>
          </a:solidFill>
          <a:ln w="6350">
            <a:solidFill>
              <a:srgbClr val="3F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5294376"/>
            <a:ext cx="5029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1">
                <a:solidFill>
                  <a:srgbClr val="F4F8FC"/>
                </a:solidFill>
                <a:latin typeface="Aptos"/>
              </a:rPr>
              <a:t>&lt;20%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39312" y="2194560"/>
            <a:ext cx="3703320" cy="3584448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248716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099FF"/>
                </a:solidFill>
                <a:latin typeface="Aptos"/>
              </a:rPr>
              <a:t>TOP ATTRITION DRIVERS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2926080"/>
            <a:ext cx="2560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2544" y="2916936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8FC"/>
                </a:solidFill>
                <a:latin typeface="Aptos"/>
              </a:rPr>
              <a:t>Monthly Income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52544" y="3191256"/>
            <a:ext cx="2551176" cy="0"/>
          </a:xfrm>
          <a:prstGeom prst="line">
            <a:avLst/>
          </a:prstGeom>
          <a:ln w="1270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352544" y="3191256"/>
            <a:ext cx="2148840" cy="5029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3410712"/>
            <a:ext cx="2560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2544" y="340156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8FC"/>
                </a:solidFill>
                <a:latin typeface="Aptos"/>
              </a:rPr>
              <a:t>OverTime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352544" y="3675888"/>
            <a:ext cx="2551176" cy="0"/>
          </a:xfrm>
          <a:prstGeom prst="line">
            <a:avLst/>
          </a:prstGeom>
          <a:ln w="1270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352544" y="3675888"/>
            <a:ext cx="1783080" cy="5029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3895344"/>
            <a:ext cx="2560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2544" y="388620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8FC"/>
                </a:solidFill>
                <a:latin typeface="Aptos"/>
              </a:rPr>
              <a:t>Age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352544" y="4160520"/>
            <a:ext cx="2551176" cy="0"/>
          </a:xfrm>
          <a:prstGeom prst="line">
            <a:avLst/>
          </a:prstGeom>
          <a:ln w="1270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352544" y="4160520"/>
            <a:ext cx="1508760" cy="5029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0" y="4379976"/>
            <a:ext cx="2560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2544" y="4370832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8FC"/>
                </a:solidFill>
                <a:latin typeface="Aptos"/>
              </a:rPr>
              <a:t>Years at Company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352544" y="4645152"/>
            <a:ext cx="2551176" cy="0"/>
          </a:xfrm>
          <a:prstGeom prst="line">
            <a:avLst/>
          </a:prstGeom>
          <a:ln w="1270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352544" y="4645152"/>
            <a:ext cx="1280160" cy="5029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0" y="4864608"/>
            <a:ext cx="2560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52544" y="4855464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8FC"/>
                </a:solidFill>
                <a:latin typeface="Aptos"/>
              </a:rPr>
              <a:t>Job Satisfaction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352544" y="5129784"/>
            <a:ext cx="2551176" cy="0"/>
          </a:xfrm>
          <a:prstGeom prst="line">
            <a:avLst/>
          </a:prstGeom>
          <a:ln w="1270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352544" y="5129784"/>
            <a:ext cx="1051560" cy="5029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598664" y="2194560"/>
            <a:ext cx="4087368" cy="3584448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72983" y="248716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FCF8B"/>
                </a:solidFill>
                <a:latin typeface="Aptos"/>
              </a:rPr>
              <a:t>PERFORMANCE &amp; ENGAGEMENT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72983" y="2889504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8FC"/>
                </a:solidFill>
                <a:latin typeface="Aptos"/>
              </a:rPr>
              <a:t>Performance Predictor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2983" y="313639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5D1DD"/>
                </a:solidFill>
                <a:latin typeface="Aptos"/>
              </a:rPr>
              <a:t>GradientBoosting Regressor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72983" y="3493008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Target metrics</a:t>
            </a:r>
          </a:p>
        </p:txBody>
      </p:sp>
      <p:sp>
        <p:nvSpPr>
          <p:cNvPr id="53" name="Oval 52"/>
          <p:cNvSpPr/>
          <p:nvPr/>
        </p:nvSpPr>
        <p:spPr>
          <a:xfrm>
            <a:off x="7872983" y="3858768"/>
            <a:ext cx="68580" cy="68580"/>
          </a:xfrm>
          <a:prstGeom prst="ellipse">
            <a:avLst/>
          </a:prstGeom>
          <a:solidFill>
            <a:srgbClr val="3FCF8B"/>
          </a:solidFill>
          <a:ln>
            <a:solidFill>
              <a:srgbClr val="3F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37575" y="3785615"/>
            <a:ext cx="27614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0" b="0">
                <a:solidFill>
                  <a:srgbClr val="C5D1DD"/>
                </a:solidFill>
                <a:latin typeface="Aptos"/>
              </a:rPr>
              <a:t>KPI Score</a:t>
            </a:r>
          </a:p>
        </p:txBody>
      </p:sp>
      <p:sp>
        <p:nvSpPr>
          <p:cNvPr id="55" name="Oval 54"/>
          <p:cNvSpPr/>
          <p:nvPr/>
        </p:nvSpPr>
        <p:spPr>
          <a:xfrm>
            <a:off x="7872983" y="4206240"/>
            <a:ext cx="68580" cy="68580"/>
          </a:xfrm>
          <a:prstGeom prst="ellipse">
            <a:avLst/>
          </a:prstGeom>
          <a:solidFill>
            <a:srgbClr val="3FCF8B"/>
          </a:solidFill>
          <a:ln>
            <a:solidFill>
              <a:srgbClr val="3F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37575" y="4133087"/>
            <a:ext cx="27614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0" b="0">
                <a:solidFill>
                  <a:srgbClr val="C5D1DD"/>
                </a:solidFill>
                <a:latin typeface="Aptos"/>
              </a:rPr>
              <a:t>Attendance %</a:t>
            </a:r>
          </a:p>
        </p:txBody>
      </p:sp>
      <p:sp>
        <p:nvSpPr>
          <p:cNvPr id="57" name="Oval 56"/>
          <p:cNvSpPr/>
          <p:nvPr/>
        </p:nvSpPr>
        <p:spPr>
          <a:xfrm>
            <a:off x="7872983" y="4553712"/>
            <a:ext cx="68580" cy="68580"/>
          </a:xfrm>
          <a:prstGeom prst="ellipse">
            <a:avLst/>
          </a:prstGeom>
          <a:solidFill>
            <a:srgbClr val="3FCF8B"/>
          </a:solidFill>
          <a:ln>
            <a:solidFill>
              <a:srgbClr val="3F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37575" y="4480559"/>
            <a:ext cx="27614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0" b="0">
                <a:solidFill>
                  <a:srgbClr val="C5D1DD"/>
                </a:solidFill>
                <a:latin typeface="Aptos"/>
              </a:rPr>
              <a:t>Peer Rating</a:t>
            </a:r>
          </a:p>
        </p:txBody>
      </p:sp>
      <p:sp>
        <p:nvSpPr>
          <p:cNvPr id="59" name="Oval 58"/>
          <p:cNvSpPr/>
          <p:nvPr/>
        </p:nvSpPr>
        <p:spPr>
          <a:xfrm>
            <a:off x="7872983" y="4901183"/>
            <a:ext cx="68580" cy="68580"/>
          </a:xfrm>
          <a:prstGeom prst="ellipse">
            <a:avLst/>
          </a:prstGeom>
          <a:solidFill>
            <a:srgbClr val="3FCF8B"/>
          </a:solidFill>
          <a:ln>
            <a:solidFill>
              <a:srgbClr val="3F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37575" y="4828031"/>
            <a:ext cx="27614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0" b="0">
                <a:solidFill>
                  <a:srgbClr val="C5D1DD"/>
                </a:solidFill>
                <a:latin typeface="Aptos"/>
              </a:rPr>
              <a:t>Task Completion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872983" y="5166360"/>
            <a:ext cx="3374137" cy="0"/>
          </a:xfrm>
          <a:prstGeom prst="line">
            <a:avLst/>
          </a:prstGeom>
          <a:ln w="1270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872983" y="5358384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8FC"/>
                </a:solidFill>
                <a:latin typeface="Aptos"/>
              </a:rPr>
              <a:t>Engagement Clustering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5358384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69FF"/>
                </a:solidFill>
                <a:latin typeface="Aptos"/>
              </a:rPr>
              <a:t>KMeans  (k = 4)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02920" y="6565392"/>
            <a:ext cx="4846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1">
                <a:solidFill>
                  <a:srgbClr val="7E92A5"/>
                </a:solidFill>
                <a:latin typeface="Aptos"/>
              </a:rPr>
              <a:t>WORKFORCE INTELLIGENCE  •  PREDICTIVE  •  EXPLAINABLE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 w="10160">
            <a:solidFill>
              <a:srgbClr val="07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E92A5"/>
                </a:solidFill>
                <a:latin typeface="Aptos"/>
              </a:rPr>
              <a:t>ENTERPRISE HR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E92A5"/>
                </a:solidFill>
                <a:latin typeface="Aptos"/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099FF"/>
                </a:solidFill>
                <a:latin typeface="Aptos"/>
              </a:rPr>
              <a:t>SKILL INTELLIGENCE + NLP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4F8FC"/>
                </a:solidFill>
                <a:latin typeface="Aptos"/>
              </a:rPr>
              <a:t>Connect roles, skills, policy and talent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E92A5"/>
                </a:solidFill>
                <a:latin typeface="Aptos"/>
              </a:rPr>
              <a:t>Automated gap analysis, succession scoring, and policy RAG assistant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874519"/>
            <a:ext cx="11183112" cy="0"/>
          </a:xfrm>
          <a:prstGeom prst="line">
            <a:avLst/>
          </a:prstGeom>
          <a:ln w="1016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194560"/>
            <a:ext cx="5394960" cy="3611880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68880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0D3C4"/>
                </a:solidFill>
                <a:latin typeface="Aptos"/>
              </a:rPr>
              <a:t>01  O*NET SKILL INTELLIGENCE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2980944"/>
            <a:ext cx="82296" cy="82296"/>
          </a:xfrm>
          <a:prstGeom prst="ellipse">
            <a:avLst/>
          </a:prstGeom>
          <a:solidFill>
            <a:srgbClr val="30D3C4"/>
          </a:solidFill>
          <a:ln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0779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Role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907792"/>
            <a:ext cx="29992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5D1DD"/>
                </a:solidFill>
                <a:latin typeface="Aptos"/>
              </a:rPr>
              <a:t>Maps enterprise titles to SOC O*NET codes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3621024"/>
            <a:ext cx="82296" cy="82296"/>
          </a:xfrm>
          <a:prstGeom prst="ellipse">
            <a:avLst/>
          </a:prstGeom>
          <a:solidFill>
            <a:srgbClr val="30D3C4"/>
          </a:solidFill>
          <a:ln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4787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Gap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3547872"/>
            <a:ext cx="29992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5D1DD"/>
                </a:solidFill>
                <a:latin typeface="Aptos"/>
              </a:rPr>
              <a:t>Computes org-wide skill gaps (High/Med/Low)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" y="4261104"/>
            <a:ext cx="82296" cy="82296"/>
          </a:xfrm>
          <a:prstGeom prst="ellipse">
            <a:avLst/>
          </a:prstGeom>
          <a:solidFill>
            <a:srgbClr val="30D3C4"/>
          </a:solidFill>
          <a:ln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8795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Upskilling 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4187952"/>
            <a:ext cx="29992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5D1DD"/>
                </a:solidFill>
                <a:latin typeface="Aptos"/>
              </a:rPr>
              <a:t>Tailored course recommendations &amp; hours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" y="4901183"/>
            <a:ext cx="82296" cy="82296"/>
          </a:xfrm>
          <a:prstGeom prst="ellipse">
            <a:avLst/>
          </a:prstGeom>
          <a:solidFill>
            <a:srgbClr val="30D3C4"/>
          </a:solidFill>
          <a:ln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28031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Succession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4828031"/>
            <a:ext cx="29992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5D1DD"/>
                </a:solidFill>
                <a:latin typeface="Aptos"/>
              </a:rPr>
              <a:t>Multi-factor score combining performance, risk &amp; tenure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2194560"/>
            <a:ext cx="5577840" cy="3611880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2468880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769FF"/>
                </a:solidFill>
                <a:latin typeface="Aptos"/>
              </a:rPr>
              <a:t>02  NLP &amp; POLICY RAG ENGINE</a:t>
            </a:r>
          </a:p>
        </p:txBody>
      </p:sp>
      <p:sp>
        <p:nvSpPr>
          <p:cNvPr id="26" name="Oval 25"/>
          <p:cNvSpPr/>
          <p:nvPr/>
        </p:nvSpPr>
        <p:spPr>
          <a:xfrm>
            <a:off x="6391656" y="2980944"/>
            <a:ext cx="82296" cy="82296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2907792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Policy RAG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2907792"/>
            <a:ext cx="3154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5D1DD"/>
                </a:solidFill>
                <a:latin typeface="Aptos"/>
              </a:rPr>
              <a:t>FAISS vector index / TF-IDF semantic search</a:t>
            </a:r>
          </a:p>
        </p:txBody>
      </p:sp>
      <p:sp>
        <p:nvSpPr>
          <p:cNvPr id="29" name="Oval 28"/>
          <p:cNvSpPr/>
          <p:nvPr/>
        </p:nvSpPr>
        <p:spPr>
          <a:xfrm>
            <a:off x="6391656" y="3621024"/>
            <a:ext cx="82296" cy="82296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3547872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Ingested Policies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547872"/>
            <a:ext cx="3154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5D1DD"/>
                </a:solidFill>
                <a:latin typeface="Aptos"/>
              </a:rPr>
              <a:t>Leave, Remote Work, Payroll, Learning</a:t>
            </a:r>
          </a:p>
        </p:txBody>
      </p:sp>
      <p:sp>
        <p:nvSpPr>
          <p:cNvPr id="32" name="Oval 31"/>
          <p:cNvSpPr/>
          <p:nvPr/>
        </p:nvSpPr>
        <p:spPr>
          <a:xfrm>
            <a:off x="6391656" y="4261104"/>
            <a:ext cx="82296" cy="82296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4187952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Resume Screener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187952"/>
            <a:ext cx="3154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5D1DD"/>
                </a:solidFill>
                <a:latin typeface="Aptos"/>
              </a:rPr>
              <a:t>TF-IDF cosine similarity matching</a:t>
            </a:r>
          </a:p>
        </p:txBody>
      </p:sp>
      <p:sp>
        <p:nvSpPr>
          <p:cNvPr id="35" name="Oval 34"/>
          <p:cNvSpPr/>
          <p:nvPr/>
        </p:nvSpPr>
        <p:spPr>
          <a:xfrm>
            <a:off x="6391656" y="4901183"/>
            <a:ext cx="82296" cy="82296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4828031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Candidate Shortlisting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828031"/>
            <a:ext cx="3154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5D1DD"/>
                </a:solidFill>
                <a:latin typeface="Aptos"/>
              </a:rPr>
              <a:t>Automated keyword extraction &amp; scoring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98932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ONE DECISION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48840" y="5833872"/>
            <a:ext cx="1874519" cy="393192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21992" y="5934456"/>
            <a:ext cx="731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F4F8FC"/>
                </a:solidFill>
                <a:latin typeface="Aptos"/>
              </a:rPr>
              <a:t>ROLE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3240" y="5934456"/>
            <a:ext cx="8229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50" b="1">
                <a:solidFill>
                  <a:srgbClr val="30D3C4"/>
                </a:solidFill>
                <a:latin typeface="Aptos"/>
              </a:rPr>
              <a:t>O*NET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80560" y="5833872"/>
            <a:ext cx="1874519" cy="393192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53712" y="5934456"/>
            <a:ext cx="731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F4F8FC"/>
                </a:solidFill>
                <a:latin typeface="Aptos"/>
              </a:rPr>
              <a:t>SKILL GAP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934456"/>
            <a:ext cx="8229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50" b="1">
                <a:solidFill>
                  <a:srgbClr val="30D3C4"/>
                </a:solidFill>
                <a:latin typeface="Aptos"/>
              </a:rPr>
              <a:t>UPS KILL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79" y="5833872"/>
            <a:ext cx="1874519" cy="393192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85431" y="5934456"/>
            <a:ext cx="731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F4F8FC"/>
                </a:solidFill>
                <a:latin typeface="Aptos"/>
              </a:rPr>
              <a:t>POLICY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79" y="5934456"/>
            <a:ext cx="8229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50" b="1">
                <a:solidFill>
                  <a:srgbClr val="9769FF"/>
                </a:solidFill>
                <a:latin typeface="Aptos"/>
              </a:rPr>
              <a:t>RAG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5833872"/>
            <a:ext cx="1874519" cy="393192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5934456"/>
            <a:ext cx="731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F4F8FC"/>
                </a:solidFill>
                <a:latin typeface="Aptos"/>
              </a:rPr>
              <a:t>TALENT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5934456"/>
            <a:ext cx="8229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50" b="1">
                <a:solidFill>
                  <a:srgbClr val="9769FF"/>
                </a:solidFill>
                <a:latin typeface="Aptos"/>
              </a:rPr>
              <a:t>SUCCESSION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02920" y="6565392"/>
            <a:ext cx="4846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1">
                <a:solidFill>
                  <a:srgbClr val="7E92A5"/>
                </a:solidFill>
                <a:latin typeface="Aptos"/>
              </a:rPr>
              <a:t>WORKFORCE INTELLIGENCE  •  PREDICTIVE  •  EXPLAINABLE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 w="10160">
            <a:solidFill>
              <a:srgbClr val="07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E92A5"/>
                </a:solidFill>
                <a:latin typeface="Aptos"/>
              </a:rPr>
              <a:t>ENTERPRISE HR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E92A5"/>
                </a:solidFill>
                <a:latin typeface="Aptos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099FF"/>
                </a:solidFill>
                <a:latin typeface="Aptos"/>
              </a:rPr>
              <a:t>PRODUCT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4F8FC"/>
                </a:solidFill>
                <a:latin typeface="Aptos"/>
              </a:rPr>
              <a:t>One executive workspace. Eight analytics modules.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E92A5"/>
                </a:solidFill>
                <a:latin typeface="Aptos"/>
              </a:rPr>
              <a:t>Interactive Streamlit dashboard designed for executive decision-making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874519"/>
            <a:ext cx="11183112" cy="0"/>
          </a:xfrm>
          <a:prstGeom prst="line">
            <a:avLst/>
          </a:prstGeom>
          <a:ln w="1016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176272"/>
            <a:ext cx="7406640" cy="3840480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340864"/>
            <a:ext cx="1261872" cy="350215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551176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8FC"/>
                </a:solidFill>
                <a:latin typeface="Aptos"/>
              </a:rPr>
              <a:t>HR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2953512"/>
            <a:ext cx="1024128" cy="246888"/>
          </a:xfrm>
          <a:prstGeom prst="roundRect">
            <a:avLst>
              <a:gd name="adj" fmla="val 8000"/>
            </a:avLst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8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1">
                <a:solidFill>
                  <a:srgbClr val="F4F8FC"/>
                </a:solidFill>
                <a:latin typeface="Aptos"/>
              </a:rPr>
              <a:t>Executive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19272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1">
                <a:solidFill>
                  <a:srgbClr val="7E92A5"/>
                </a:solidFill>
                <a:latin typeface="Aptos"/>
              </a:rPr>
              <a:t>Attrition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4845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1">
                <a:solidFill>
                  <a:srgbClr val="7E92A5"/>
                </a:solidFill>
                <a:latin typeface="Aptos"/>
              </a:rPr>
              <a:t>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77639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1">
                <a:solidFill>
                  <a:srgbClr val="7E92A5"/>
                </a:solidFill>
                <a:latin typeface="Aptos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06824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1">
                <a:solidFill>
                  <a:srgbClr val="7E92A5"/>
                </a:solidFill>
                <a:latin typeface="Aptos"/>
              </a:rPr>
              <a:t>Succession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36008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1">
                <a:solidFill>
                  <a:srgbClr val="7E92A5"/>
                </a:solidFill>
                <a:latin typeface="Aptos"/>
              </a:rPr>
              <a:t>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65192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1">
                <a:solidFill>
                  <a:srgbClr val="7E92A5"/>
                </a:solidFill>
                <a:latin typeface="Aptos"/>
              </a:rPr>
              <a:t>Policy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9437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1">
                <a:solidFill>
                  <a:srgbClr val="7E92A5"/>
                </a:solidFill>
                <a:latin typeface="Aptos"/>
              </a:rPr>
              <a:t>Resume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7128" y="2523744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099FF"/>
                </a:solidFill>
                <a:latin typeface="Aptos"/>
              </a:rPr>
              <a:t>EXECUTIVE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67128" y="2880360"/>
            <a:ext cx="1325880" cy="658368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80" y="3026664"/>
            <a:ext cx="11795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099FF"/>
                </a:solidFill>
                <a:latin typeface="Aptos"/>
              </a:rPr>
              <a:t>1,470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3273552"/>
            <a:ext cx="117957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1">
                <a:solidFill>
                  <a:srgbClr val="7E92A5"/>
                </a:solidFill>
                <a:latin typeface="Aptos"/>
              </a:rPr>
              <a:t>EMPLOYEES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75887" y="2880360"/>
            <a:ext cx="1325880" cy="658368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026664"/>
            <a:ext cx="11795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5B69"/>
                </a:solidFill>
                <a:latin typeface="Aptos"/>
              </a:rPr>
              <a:t>200+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273552"/>
            <a:ext cx="117957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1">
                <a:solidFill>
                  <a:srgbClr val="7E92A5"/>
                </a:solidFill>
                <a:latin typeface="Aptos"/>
              </a:rPr>
              <a:t>HIGH RISK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84648" y="2880360"/>
            <a:ext cx="1325880" cy="658368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026664"/>
            <a:ext cx="11795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FCF8B"/>
                </a:solidFill>
                <a:latin typeface="Aptos"/>
              </a:rPr>
              <a:t>82%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273552"/>
            <a:ext cx="117957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" b="1">
                <a:solidFill>
                  <a:srgbClr val="7E92A5"/>
                </a:solidFill>
                <a:latin typeface="Aptos"/>
              </a:rPr>
              <a:t>MODEL ACC.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7128" y="3822191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RISK DISTRIBUTION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7128" y="4160520"/>
            <a:ext cx="5943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C5D1DD"/>
                </a:solidFill>
                <a:latin typeface="Aptos"/>
              </a:rPr>
              <a:t>Critical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4178807"/>
            <a:ext cx="3337560" cy="118872"/>
          </a:xfrm>
          <a:prstGeom prst="rect">
            <a:avLst/>
          </a:prstGeom>
          <a:solidFill>
            <a:srgbClr val="233548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80360" y="4178807"/>
            <a:ext cx="934516" cy="118872"/>
          </a:xfrm>
          <a:prstGeom prst="rect">
            <a:avLst/>
          </a:prstGeom>
          <a:solidFill>
            <a:srgbClr val="F45B69"/>
          </a:solidFill>
          <a:ln w="10160"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67128" y="4507992"/>
            <a:ext cx="5943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C5D1DD"/>
                </a:solidFill>
                <a:latin typeface="Aptos"/>
              </a:rPr>
              <a:t>High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360" y="4526279"/>
            <a:ext cx="3337560" cy="118872"/>
          </a:xfrm>
          <a:prstGeom prst="rect">
            <a:avLst/>
          </a:prstGeom>
          <a:solidFill>
            <a:srgbClr val="233548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360" y="4526279"/>
            <a:ext cx="1435150" cy="118872"/>
          </a:xfrm>
          <a:prstGeom prst="rect">
            <a:avLst/>
          </a:prstGeom>
          <a:solidFill>
            <a:srgbClr val="F4B443"/>
          </a:solidFill>
          <a:ln w="10160">
            <a:solidFill>
              <a:srgbClr val="F4B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67128" y="4855464"/>
            <a:ext cx="5943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C5D1DD"/>
                </a:solidFill>
                <a:latin typeface="Aptos"/>
              </a:rPr>
              <a:t>Medium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4873751"/>
            <a:ext cx="3337560" cy="118872"/>
          </a:xfrm>
          <a:prstGeom prst="rect">
            <a:avLst/>
          </a:prstGeom>
          <a:solidFill>
            <a:srgbClr val="233548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80360" y="4873751"/>
            <a:ext cx="2069287" cy="11887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67128" y="5202936"/>
            <a:ext cx="5943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C5D1DD"/>
                </a:solidFill>
                <a:latin typeface="Aptos"/>
              </a:rPr>
              <a:t>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5221223"/>
            <a:ext cx="3337560" cy="118872"/>
          </a:xfrm>
          <a:prstGeom prst="rect">
            <a:avLst/>
          </a:prstGeom>
          <a:solidFill>
            <a:srgbClr val="233548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80360" y="5221223"/>
            <a:ext cx="2736799" cy="118872"/>
          </a:xfrm>
          <a:prstGeom prst="rect">
            <a:avLst/>
          </a:prstGeom>
          <a:solidFill>
            <a:srgbClr val="3FCF8B"/>
          </a:solidFill>
          <a:ln w="10160">
            <a:solidFill>
              <a:srgbClr val="3F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20" y="2331720"/>
            <a:ext cx="1188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E92A5"/>
                </a:solidFill>
                <a:latin typeface="Aptos"/>
              </a:rPr>
              <a:t>MODULES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47888" y="2679192"/>
            <a:ext cx="1554480" cy="62179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366760" y="2798064"/>
            <a:ext cx="82296" cy="82296"/>
          </a:xfrm>
          <a:prstGeom prst="ellipse">
            <a:avLst/>
          </a:prstGeom>
          <a:solidFill>
            <a:srgbClr val="4099FF"/>
          </a:solidFill>
          <a:ln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22208" y="2770632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F4F8FC"/>
                </a:solidFill>
                <a:latin typeface="Aptos"/>
              </a:rPr>
              <a:t>Executive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2980944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7E92A5"/>
                </a:solidFill>
                <a:latin typeface="Aptos"/>
              </a:rPr>
              <a:t>Org KPIs, risk distribution &amp; upskilling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48672" y="2679192"/>
            <a:ext cx="1554480" cy="62179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67544" y="2798064"/>
            <a:ext cx="82296" cy="82296"/>
          </a:xfrm>
          <a:prstGeom prst="ellipse">
            <a:avLst/>
          </a:prstGeom>
          <a:solidFill>
            <a:srgbClr val="F45B69"/>
          </a:solidFill>
          <a:ln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22992" y="2770632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F4F8FC"/>
                </a:solidFill>
                <a:latin typeface="Aptos"/>
              </a:rPr>
              <a:t>Attrition Risk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67544" y="2980944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7E92A5"/>
                </a:solidFill>
                <a:latin typeface="Aptos"/>
              </a:rPr>
              <a:t>Interactive risk table, filters &amp; driver analysis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47888" y="3438144"/>
            <a:ext cx="1554480" cy="62179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66760" y="3557016"/>
            <a:ext cx="82296" cy="82296"/>
          </a:xfrm>
          <a:prstGeom prst="ellipse">
            <a:avLst/>
          </a:prstGeom>
          <a:solidFill>
            <a:srgbClr val="3FCF8B"/>
          </a:solidFill>
          <a:ln>
            <a:solidFill>
              <a:srgbClr val="3F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22208" y="352958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F4F8FC"/>
                </a:solidFill>
                <a:latin typeface="Aptos"/>
              </a:rPr>
              <a:t>Performance Analytics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739896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7E92A5"/>
                </a:solidFill>
                <a:latin typeface="Aptos"/>
              </a:rPr>
              <a:t>Leaderboards &amp; training impact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48672" y="3438144"/>
            <a:ext cx="1554480" cy="62179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67544" y="3557016"/>
            <a:ext cx="82296" cy="82296"/>
          </a:xfrm>
          <a:prstGeom prst="ellipse">
            <a:avLst/>
          </a:prstGeom>
          <a:solidFill>
            <a:srgbClr val="30D3C4"/>
          </a:solidFill>
          <a:ln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22992" y="352958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F4F8FC"/>
                </a:solidFill>
                <a:latin typeface="Aptos"/>
              </a:rPr>
              <a:t>Skill Gap Analysis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67544" y="3739896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7E92A5"/>
                </a:solidFill>
                <a:latin typeface="Aptos"/>
              </a:rPr>
              <a:t>Severity breakdown &amp; hot tech explorer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47888" y="4197096"/>
            <a:ext cx="1554480" cy="62179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366760" y="4315968"/>
            <a:ext cx="82296" cy="82296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22208" y="4288536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F4F8FC"/>
                </a:solidFill>
                <a:latin typeface="Aptos"/>
              </a:rPr>
              <a:t>Succession Planning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4498848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7E92A5"/>
                </a:solidFill>
                <a:latin typeface="Aptos"/>
              </a:rPr>
              <a:t>Readiness matrix &amp; high-potential spotlight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48672" y="4197096"/>
            <a:ext cx="1554480" cy="62179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067544" y="4315968"/>
            <a:ext cx="82296" cy="82296"/>
          </a:xfrm>
          <a:prstGeom prst="ellipse">
            <a:avLst/>
          </a:prstGeom>
          <a:solidFill>
            <a:srgbClr val="F4B443"/>
          </a:solidFill>
          <a:ln>
            <a:solidFill>
              <a:srgbClr val="F4B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22992" y="4288536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F4F8FC"/>
                </a:solidFill>
                <a:latin typeface="Aptos"/>
              </a:rPr>
              <a:t>EDA Explorer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67544" y="4498848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7E92A5"/>
                </a:solidFill>
                <a:latin typeface="Aptos"/>
              </a:rPr>
              <a:t>Custom interactive Plotly chart builder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47888" y="4956048"/>
            <a:ext cx="1554480" cy="62179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366760" y="5074920"/>
            <a:ext cx="82296" cy="82296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22208" y="5047488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F4F8FC"/>
                </a:solidFill>
                <a:latin typeface="Aptos"/>
              </a:rPr>
              <a:t>AI Policy Assistant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66760" y="5257800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7E92A5"/>
                </a:solidFill>
                <a:latin typeface="Aptos"/>
              </a:rPr>
              <a:t>Chat Q&amp;A with source text evidence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48672" y="4956048"/>
            <a:ext cx="1554480" cy="621792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067544" y="5074920"/>
            <a:ext cx="82296" cy="82296"/>
          </a:xfrm>
          <a:prstGeom prst="ellipse">
            <a:avLst/>
          </a:prstGeom>
          <a:solidFill>
            <a:srgbClr val="4099FF"/>
          </a:solidFill>
          <a:ln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222992" y="5047488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F4F8FC"/>
                </a:solidFill>
                <a:latin typeface="Aptos"/>
              </a:rPr>
              <a:t>Resume Screener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67544" y="5257800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7E92A5"/>
                </a:solidFill>
                <a:latin typeface="Aptos"/>
              </a:rPr>
              <a:t>Candidate batch ranking against JDs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47888" y="583387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C5D1DD"/>
                </a:solidFill>
                <a:latin typeface="Aptos"/>
              </a:rPr>
              <a:t>High-Contrast UI  ·  Modern dark theme optimized for clarity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02920" y="6565392"/>
            <a:ext cx="4846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1">
                <a:solidFill>
                  <a:srgbClr val="7E92A5"/>
                </a:solidFill>
                <a:latin typeface="Aptos"/>
              </a:rPr>
              <a:t>WORKFORCE INTELLIGENCE  •  PREDICTIVE  •  EXPLAINABLE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 w="10160">
            <a:solidFill>
              <a:srgbClr val="07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E92A5"/>
                </a:solidFill>
                <a:latin typeface="Aptos"/>
              </a:rPr>
              <a:t>ENTERPRISE HR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E92A5"/>
                </a:solidFill>
                <a:latin typeface="Aptos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099FF"/>
                </a:solidFill>
                <a:latin typeface="Aptos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4F8FC"/>
                </a:solidFill>
                <a:latin typeface="Aptos"/>
              </a:rPr>
              <a:t>Decoupled backend, ML/NLP services and executive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E92A5"/>
                </a:solidFill>
                <a:latin typeface="Aptos"/>
              </a:rPr>
              <a:t>Production-grade decoupled backend &amp; frontend infrastructure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874519"/>
            <a:ext cx="11183112" cy="0"/>
          </a:xfrm>
          <a:prstGeom prst="line">
            <a:avLst/>
          </a:prstGeom>
          <a:ln w="1016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212848"/>
            <a:ext cx="3493008" cy="3401568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12848"/>
            <a:ext cx="3493008" cy="64008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532888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99FF"/>
                </a:solidFill>
                <a:latin typeface="Aptos"/>
              </a:rPr>
              <a:t>BACKEND &amp; API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044952"/>
            <a:ext cx="73152" cy="73152"/>
          </a:xfrm>
          <a:prstGeom prst="ellipse">
            <a:avLst/>
          </a:prstGeom>
          <a:solidFill>
            <a:srgbClr val="4099FF"/>
          </a:solidFill>
          <a:ln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971800"/>
            <a:ext cx="2670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4F8FC"/>
                </a:solidFill>
                <a:latin typeface="Aptos"/>
              </a:rPr>
              <a:t>Python 3.11+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593592"/>
            <a:ext cx="73152" cy="73152"/>
          </a:xfrm>
          <a:prstGeom prst="ellipse">
            <a:avLst/>
          </a:prstGeom>
          <a:solidFill>
            <a:srgbClr val="4099FF"/>
          </a:solidFill>
          <a:ln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520440"/>
            <a:ext cx="2670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5D1DD"/>
                </a:solidFill>
                <a:latin typeface="Aptos"/>
              </a:rPr>
              <a:t>FastAPI &amp; Uvicorn (9 REST endpoints)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142232"/>
            <a:ext cx="73152" cy="73152"/>
          </a:xfrm>
          <a:prstGeom prst="ellipse">
            <a:avLst/>
          </a:prstGeom>
          <a:solidFill>
            <a:srgbClr val="4099FF"/>
          </a:solidFill>
          <a:ln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069080"/>
            <a:ext cx="2670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5D1DD"/>
                </a:solidFill>
                <a:latin typeface="Aptos"/>
              </a:rPr>
              <a:t>SQLAlchemy &amp; SQLite database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690872"/>
            <a:ext cx="73152" cy="73152"/>
          </a:xfrm>
          <a:prstGeom prst="ellipse">
            <a:avLst/>
          </a:prstGeom>
          <a:solidFill>
            <a:srgbClr val="4099FF"/>
          </a:solidFill>
          <a:ln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617720"/>
            <a:ext cx="2670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5D1DD"/>
                </a:solidFill>
                <a:latin typeface="Aptos"/>
              </a:rPr>
              <a:t>Pydantic schemas &amp;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212848"/>
            <a:ext cx="3493008" cy="3401568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2212848"/>
            <a:ext cx="3493008" cy="64008"/>
          </a:xfrm>
          <a:prstGeom prst="rect">
            <a:avLst/>
          </a:prstGeom>
          <a:solidFill>
            <a:srgbClr val="9769FF"/>
          </a:solidFill>
          <a:ln w="10160"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532888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769FF"/>
                </a:solidFill>
                <a:latin typeface="Aptos"/>
              </a:rPr>
              <a:t>ML &amp; NLP STACK</a:t>
            </a:r>
          </a:p>
        </p:txBody>
      </p:sp>
      <p:sp>
        <p:nvSpPr>
          <p:cNvPr id="24" name="Oval 23"/>
          <p:cNvSpPr/>
          <p:nvPr/>
        </p:nvSpPr>
        <p:spPr>
          <a:xfrm>
            <a:off x="4590288" y="3044952"/>
            <a:ext cx="73152" cy="73152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2971800"/>
            <a:ext cx="2670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4F8FC"/>
                </a:solidFill>
                <a:latin typeface="Aptos"/>
              </a:rPr>
              <a:t>scikit-learn (RF, GradientBoosting, KMeans)</a:t>
            </a:r>
          </a:p>
        </p:txBody>
      </p:sp>
      <p:sp>
        <p:nvSpPr>
          <p:cNvPr id="26" name="Oval 25"/>
          <p:cNvSpPr/>
          <p:nvPr/>
        </p:nvSpPr>
        <p:spPr>
          <a:xfrm>
            <a:off x="4590288" y="3593592"/>
            <a:ext cx="73152" cy="73152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91456" y="3520440"/>
            <a:ext cx="2670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5D1DD"/>
                </a:solidFill>
                <a:latin typeface="Aptos"/>
              </a:rPr>
              <a:t>sentence-transformers &amp; FAISS / TF-IDF</a:t>
            </a:r>
          </a:p>
        </p:txBody>
      </p:sp>
      <p:sp>
        <p:nvSpPr>
          <p:cNvPr id="28" name="Oval 27"/>
          <p:cNvSpPr/>
          <p:nvPr/>
        </p:nvSpPr>
        <p:spPr>
          <a:xfrm>
            <a:off x="4590288" y="4142232"/>
            <a:ext cx="73152" cy="73152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4069080"/>
            <a:ext cx="2670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5D1DD"/>
                </a:solidFill>
                <a:latin typeface="Aptos"/>
              </a:rPr>
              <a:t>joblib model serialization</a:t>
            </a:r>
          </a:p>
        </p:txBody>
      </p:sp>
      <p:sp>
        <p:nvSpPr>
          <p:cNvPr id="30" name="Oval 29"/>
          <p:cNvSpPr/>
          <p:nvPr/>
        </p:nvSpPr>
        <p:spPr>
          <a:xfrm>
            <a:off x="4590288" y="4690872"/>
            <a:ext cx="73152" cy="73152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1456" y="4617720"/>
            <a:ext cx="2670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5D1DD"/>
                </a:solidFill>
                <a:latin typeface="Aptos"/>
              </a:rPr>
              <a:t>pandas &amp; numpy data engines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9016" y="2212848"/>
            <a:ext cx="3493008" cy="3401568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9016" y="2212848"/>
            <a:ext cx="3493008" cy="64008"/>
          </a:xfrm>
          <a:prstGeom prst="rect">
            <a:avLst/>
          </a:prstGeom>
          <a:solidFill>
            <a:srgbClr val="30D3C4"/>
          </a:solidFill>
          <a:ln w="10160"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2532888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0D3C4"/>
                </a:solidFill>
                <a:latin typeface="Aptos"/>
              </a:rPr>
              <a:t>FRONTEND &amp; OPS</a:t>
            </a:r>
          </a:p>
        </p:txBody>
      </p:sp>
      <p:sp>
        <p:nvSpPr>
          <p:cNvPr id="35" name="Oval 34"/>
          <p:cNvSpPr/>
          <p:nvPr/>
        </p:nvSpPr>
        <p:spPr>
          <a:xfrm>
            <a:off x="8403336" y="3044952"/>
            <a:ext cx="73152" cy="73152"/>
          </a:xfrm>
          <a:prstGeom prst="ellipse">
            <a:avLst/>
          </a:prstGeom>
          <a:solidFill>
            <a:srgbClr val="30D3C4"/>
          </a:solidFill>
          <a:ln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4504" y="2971800"/>
            <a:ext cx="2670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4F8FC"/>
                </a:solidFill>
                <a:latin typeface="Aptos"/>
              </a:rPr>
              <a:t>Streamlit (8 interactive pages)</a:t>
            </a:r>
          </a:p>
        </p:txBody>
      </p:sp>
      <p:sp>
        <p:nvSpPr>
          <p:cNvPr id="37" name="Oval 36"/>
          <p:cNvSpPr/>
          <p:nvPr/>
        </p:nvSpPr>
        <p:spPr>
          <a:xfrm>
            <a:off x="8403336" y="3593592"/>
            <a:ext cx="73152" cy="73152"/>
          </a:xfrm>
          <a:prstGeom prst="ellipse">
            <a:avLst/>
          </a:prstGeom>
          <a:solidFill>
            <a:srgbClr val="30D3C4"/>
          </a:solidFill>
          <a:ln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04504" y="3520440"/>
            <a:ext cx="2670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5D1DD"/>
                </a:solidFill>
                <a:latin typeface="Aptos"/>
              </a:rPr>
              <a:t>Plotly Express visualization engine</a:t>
            </a:r>
          </a:p>
        </p:txBody>
      </p:sp>
      <p:sp>
        <p:nvSpPr>
          <p:cNvPr id="39" name="Oval 38"/>
          <p:cNvSpPr/>
          <p:nvPr/>
        </p:nvSpPr>
        <p:spPr>
          <a:xfrm>
            <a:off x="8403336" y="4142232"/>
            <a:ext cx="73152" cy="73152"/>
          </a:xfrm>
          <a:prstGeom prst="ellipse">
            <a:avLst/>
          </a:prstGeom>
          <a:solidFill>
            <a:srgbClr val="30D3C4"/>
          </a:solidFill>
          <a:ln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4504" y="4069080"/>
            <a:ext cx="2670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5D1DD"/>
                </a:solidFill>
                <a:latin typeface="Aptos"/>
              </a:rPr>
              <a:t>Custom CSS design system</a:t>
            </a:r>
          </a:p>
        </p:txBody>
      </p:sp>
      <p:sp>
        <p:nvSpPr>
          <p:cNvPr id="41" name="Oval 40"/>
          <p:cNvSpPr/>
          <p:nvPr/>
        </p:nvSpPr>
        <p:spPr>
          <a:xfrm>
            <a:off x="8403336" y="4690872"/>
            <a:ext cx="73152" cy="73152"/>
          </a:xfrm>
          <a:prstGeom prst="ellipse">
            <a:avLst/>
          </a:prstGeom>
          <a:solidFill>
            <a:srgbClr val="30D3C4"/>
          </a:solidFill>
          <a:ln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04504" y="4617720"/>
            <a:ext cx="2670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5D1DD"/>
                </a:solidFill>
                <a:latin typeface="Aptos"/>
              </a:rPr>
              <a:t>PowerShell &amp; Git automation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907024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API ARCHITECTURE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03120" y="5760720"/>
            <a:ext cx="1481328" cy="393192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 w="11430">
            <a:solidFill>
              <a:srgbClr val="30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57984" y="5870448"/>
            <a:ext cx="1371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30D3C4"/>
                </a:solidFill>
                <a:latin typeface="Aptos"/>
              </a:rPr>
              <a:t>STREAMLIT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5870448"/>
            <a:ext cx="182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E92A5"/>
                </a:solidFill>
                <a:latin typeface="Aptos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50208" y="5760720"/>
            <a:ext cx="1481328" cy="393192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 w="1143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05072" y="5870448"/>
            <a:ext cx="1371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4099FF"/>
                </a:solidFill>
                <a:latin typeface="Aptos"/>
              </a:rPr>
              <a:t>FASTAPI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04688" y="5870448"/>
            <a:ext cx="182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E92A5"/>
                </a:solidFill>
                <a:latin typeface="Aptos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97296" y="5760720"/>
            <a:ext cx="1481328" cy="393192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 w="11430"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59" y="5870448"/>
            <a:ext cx="1371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9769FF"/>
                </a:solidFill>
                <a:latin typeface="Aptos"/>
              </a:rPr>
              <a:t>PYDANTIC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51775" y="5870448"/>
            <a:ext cx="182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E92A5"/>
                </a:solidFill>
                <a:latin typeface="Aptos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44383" y="5760720"/>
            <a:ext cx="1481328" cy="393192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 w="11430">
            <a:solidFill>
              <a:srgbClr val="3F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99248" y="5870448"/>
            <a:ext cx="1371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3FCF8B"/>
                </a:solidFill>
                <a:latin typeface="Aptos"/>
              </a:rPr>
              <a:t>SQLITE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98863" y="5870448"/>
            <a:ext cx="182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E92A5"/>
                </a:solidFill>
                <a:latin typeface="Aptos"/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91472" y="5760720"/>
            <a:ext cx="1481328" cy="393192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 w="11430">
            <a:solidFill>
              <a:srgbClr val="F4B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46336" y="5870448"/>
            <a:ext cx="1371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F4B443"/>
                </a:solidFill>
                <a:latin typeface="Aptos"/>
              </a:rPr>
              <a:t>ML / NLP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02920" y="6565392"/>
            <a:ext cx="4846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1">
                <a:solidFill>
                  <a:srgbClr val="7E92A5"/>
                </a:solidFill>
                <a:latin typeface="Aptos"/>
              </a:rPr>
              <a:t>WORKFORCE INTELLIGENCE  •  PREDICTIVE  •  EXPLAINABLE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 w="10160">
            <a:solidFill>
              <a:srgbClr val="07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099FF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E92A5"/>
                </a:solidFill>
                <a:latin typeface="Aptos"/>
              </a:rPr>
              <a:t>ENTERPRISE HR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E92A5"/>
                </a:solidFill>
                <a:latin typeface="Aptos"/>
              </a:rPr>
              <a:t>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099FF"/>
                </a:solidFill>
                <a:latin typeface="Aptos"/>
              </a:rPr>
              <a:t>DEPLOYMENT +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4F8FC"/>
                </a:solidFill>
                <a:latin typeface="Aptos"/>
              </a:rPr>
              <a:t>Ready to deploy. Designed to expand.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E92A5"/>
                </a:solidFill>
                <a:latin typeface="Aptos"/>
              </a:rPr>
              <a:t>Seamless cloud deployment and enterprise expansion roadmap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874519"/>
            <a:ext cx="11183112" cy="0"/>
          </a:xfrm>
          <a:prstGeom prst="line">
            <a:avLst/>
          </a:prstGeom>
          <a:ln w="1016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212848"/>
            <a:ext cx="5349240" cy="3474720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099FF"/>
                </a:solidFill>
                <a:latin typeface="Aptos"/>
              </a:rPr>
              <a:t>DEPLOYMENT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907792"/>
            <a:ext cx="2926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07792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Streamlit Community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907792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70" b="0">
                <a:solidFill>
                  <a:srgbClr val="C5D1DD"/>
                </a:solidFill>
                <a:latin typeface="Aptos"/>
              </a:rPr>
              <a:t>Permament free public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529584"/>
            <a:ext cx="2926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529584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Render.com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3529584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70" b="0">
                <a:solidFill>
                  <a:srgbClr val="C5D1DD"/>
                </a:solidFill>
                <a:latin typeface="Aptos"/>
              </a:rPr>
              <a:t>Full containerized FastAPI + Streamlit hosting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151376"/>
            <a:ext cx="2926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51376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Local Tunnel / Pinggy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2" y="4151376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70" b="0">
                <a:solidFill>
                  <a:srgbClr val="C5D1DD"/>
                </a:solidFill>
                <a:latin typeface="Aptos"/>
              </a:rPr>
              <a:t>Instant live public URL for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773168"/>
            <a:ext cx="2926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E92A5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4773168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Git Repository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6392" y="4773168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70" b="0">
                <a:solidFill>
                  <a:srgbClr val="C5D1DD"/>
                </a:solidFill>
                <a:latin typeface="Aptos"/>
              </a:rPr>
              <a:t>Fully initialized &amp; committed (`git init`)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2212848"/>
            <a:ext cx="5577840" cy="3474720"/>
          </a:xfrm>
          <a:prstGeom prst="roundRect">
            <a:avLst>
              <a:gd name="adj" fmla="val 8000"/>
            </a:avLst>
          </a:prstGeom>
          <a:solidFill>
            <a:srgbClr val="101B2A"/>
          </a:solidFill>
          <a:ln w="10160">
            <a:solidFill>
              <a:srgbClr val="23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2496312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769FF"/>
                </a:solidFill>
                <a:latin typeface="Aptos"/>
              </a:rPr>
              <a:t>FUTURE ENHANCEMENTS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980944"/>
            <a:ext cx="91440" cy="91440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907792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LLM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907792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5D1DD"/>
                </a:solidFill>
                <a:latin typeface="Aptos"/>
              </a:rPr>
              <a:t>Fine-tuned Llama/GPT for policy Q&amp;A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602736"/>
            <a:ext cx="91440" cy="91440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529584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Real-time Data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529584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5D1DD"/>
                </a:solidFill>
                <a:latin typeface="Aptos"/>
              </a:rPr>
              <a:t>Integration with Workday &amp; SAP SuccessFactors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4224528"/>
            <a:ext cx="91440" cy="91440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151376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Advanced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151376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5D1DD"/>
                </a:solidFill>
                <a:latin typeface="Aptos"/>
              </a:rPr>
              <a:t>Survival analysis for employee retention curves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4846320"/>
            <a:ext cx="91440" cy="91440"/>
          </a:xfrm>
          <a:prstGeom prst="ellipse">
            <a:avLst/>
          </a:prstGeom>
          <a:solidFill>
            <a:srgbClr val="9769FF"/>
          </a:solidFill>
          <a:ln>
            <a:solidFill>
              <a:srgbClr val="97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4773168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4F8FC"/>
                </a:solidFill>
                <a:latin typeface="Aptos"/>
              </a:rPr>
              <a:t>Role-Based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773168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5D1DD"/>
                </a:solidFill>
                <a:latin typeface="Aptos"/>
              </a:rPr>
              <a:t>RBAC authentication for HR admins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925312"/>
            <a:ext cx="11183112" cy="347472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 w="10160">
            <a:solidFill>
              <a:srgbClr val="4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025896"/>
            <a:ext cx="10744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F4F8FC"/>
                </a:solidFill>
                <a:latin typeface="Aptos"/>
              </a:rPr>
              <a:t>NEXT STATE  →  REAL-TIME HR DATA  +  DEEPER AI REASONING  +  ENTERPRISE ACCESS CONTROL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23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6565392"/>
            <a:ext cx="4846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1">
                <a:solidFill>
                  <a:srgbClr val="7E92A5"/>
                </a:solidFill>
                <a:latin typeface="Aptos"/>
              </a:rPr>
              <a:t>WORKFORCE INTELLIGENCE  •  PREDICTIVE  •  EXPLAINABLE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